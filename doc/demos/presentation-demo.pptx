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master"/>
  </p:sldMasterIdLst>
  <p:notesMasterIdLst>
    <p:notesMasterId r:id="notesMaster"/>
  </p:notesMasterIdLst>
  <p:sldIdLst>
    <p:sldId id="256" r:id="s0"/>
    <p:sldId id="257" r:id="s1"/>
    <p:sldId id="258" r:id="s2"/>
    <p:sldId id="259" r:id="s3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master" Type="http://schemas.openxmlformats.org/officeDocument/2006/relationships/slideMaster" Target="slideMasters/slideMaster1.xml"/><Relationship Id="notesMaster" Type="http://schemas.openxmlformats.org/officeDocument/2006/relationships/notesMaster" Target="notesMasters/notesMaster1.xml"/><Relationship Id="s0" Type="http://schemas.openxmlformats.org/officeDocument/2006/relationships/slide" Target="slides/slide1.xml"/><Relationship Id="s1" Type="http://schemas.openxmlformats.org/officeDocument/2006/relationships/slide" Target="slides/slide2.xml"/><Relationship Id="s2" Type="http://schemas.openxmlformats.org/officeDocument/2006/relationships/slide" Target="slides/slide3.xml"/><Relationship Id="s3" Type="http://schemas.openxmlformats.org/officeDocument/2006/relationships/slide" Target="slides/slide4.xml"/></Relationships>
</file>

<file path=ppt/charts/_rels/chart1.xml.rels><?xml version="1.0" encoding="UTF-8" standalone="yes"?><Relationships xmlns="http://schemas.openxmlformats.org/package/2006/relationships"><Relationship Id="data" Type="http://schemas.openxmlformats.org/officeDocument/2006/relationships/package" Target="../embeddings/chartData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/>
          <a:lstStyle/>
          <a:p>
            <a:r>
              <a:t>季度数据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246b50"/>
            </a:solidFill>
            <a:ln w="19050">
              <a:solidFill>
                <a:srgbClr val="246b50"/>
              </a:solidFill>
            </a:ln>
          </c:spPr>
          <c:cat>
            <c:strRef>
              <c:f>Sheet1!$A$2:$A$4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6298c9"/>
            </a:solidFill>
            <a:ln w="19050">
              <a:solidFill>
                <a:srgbClr val="6298c9"/>
              </a:solidFill>
            </a:ln>
          </c:spPr>
          <c:cat>
            <c:strRef>
              <c:f>Sheet1!$A$2:$A$4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14</c:v>
                </c:pt>
                <c:pt idx="2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123"/>
        <c:axId val="456"/>
      </c:barChart>
      <c:catAx>
        <c:axId val="1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456"/>
        <c:crosses val="autoZero"/>
        <c:auto val="1"/>
        <c:lblAlgn val="ctr"/>
        <c:lblOffset val="100"/>
      </c:catAx>
      <c:valAx>
        <c:axId val="4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23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externalData r:id="data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4114800"/>
            <a:ext cx="5486400" cy="4114800"/>
          </a:xfrm>
        </p:spPr>
        <p:txBody>
          <a:bodyPr wrap="square" lIns="38100" tIns="38100" rIns="38100" bIns="38100"/>
          <a:lstStyle/>
          <a:p>
            <a:pPr algn="l"/>
            <a:r>
              <a:rPr lang="zh-CN" sz="1200" b="0" i="0" u="none">
                <a:solidFill>
                  <a:srgbClr val="000000"/>
                </a:solidFill>
                <a:latin typeface="Arial"/>
                <a:ea typeface="Arial"/>
              </a:rPr>
              <a:t xml:space="preserve"/>
            </a:r>
            <a:endParaRPr lang="zh-CN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slide" Type="http://schemas.openxmlformats.org/officeDocument/2006/relationships/slide" Target="../slides/slide1.xml"/><Relationship Id="master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slide" Type="http://schemas.openxmlformats.org/officeDocument/2006/relationships/slide" Target="../slides/slide2.xml"/><Relationship Id="master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slide" Type="http://schemas.openxmlformats.org/officeDocument/2006/relationships/slide" Target="../slides/slide3.xml"/><Relationship Id="master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slide" Type="http://schemas.openxmlformats.org/officeDocument/2006/relationships/slide" Target="../slides/slide4.xml"/><Relationship Id="master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4114800"/>
            <a:ext cx="5486400" cy="4114800"/>
          </a:xfrm>
        </p:spPr>
        <p:txBody>
          <a:bodyPr wrap="square" lIns="38100" tIns="38100" rIns="38100" bIns="38100"/>
          <a:lstStyle/>
          <a:p>
            <a:pPr algn="l"/>
            <a:r>
              <a:rPr lang="zh-CN" sz="1200" b="0" i="0" u="none">
                <a:solidFill>
                  <a:srgbClr val="000000"/>
                </a:solidFill>
                <a:latin typeface="Arial"/>
                <a:ea typeface="Arial"/>
              </a:rPr>
              <a:t xml:space="preserve">标题在切页动画结束后自动淡入。点击一次播放正文飞入，随后出现页脚；再点击进入下一页。</a:t>
            </a: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4114800"/>
            <a:ext cx="5486400" cy="4114800"/>
          </a:xfrm>
        </p:spPr>
        <p:txBody>
          <a:bodyPr wrap="square" lIns="38100" tIns="38100" rIns="38100" bIns="38100"/>
          <a:lstStyle/>
          <a:p>
            <a:pPr algn="l"/>
            <a:r>
              <a:rPr lang="zh-CN" sz="1200" b="0" i="0" u="none">
                <a:solidFill>
                  <a:srgbClr val="000000"/>
                </a:solidFill>
                <a:latin typeface="Arial"/>
                <a:ea typeface="Arial"/>
              </a:rPr>
              <a:t xml:space="preserve">第二、第三个模块在动画前保持可见。第一次点击让第一个模块缩放进入，第二次点击强调第二个模块，第三次点击让第三个模块淡出，随后图片从右飞入。</a:t>
            </a: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4114800"/>
            <a:ext cx="5486400" cy="4114800"/>
          </a:xfrm>
        </p:spPr>
        <p:txBody>
          <a:bodyPr wrap="square" lIns="38100" tIns="38100" rIns="38100" bIns="38100"/>
          <a:lstStyle/>
          <a:p>
            <a:pPr algn="l"/>
            <a:r>
              <a:rPr lang="zh-CN" sz="1200" b="0" i="0" u="none">
                <a:solidFill>
                  <a:srgbClr val="000000"/>
                </a:solidFill>
                <a:latin typeface="Arial"/>
                <a:ea typeface="Arial"/>
              </a:rPr>
              <a:t xml:space="preserve">表格包含三行三列。可在编辑面板修改文字、行列与统一样式；导出 PDF 为最终静态画面。</a:t>
            </a: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685800" y="4114800"/>
            <a:ext cx="5486400" cy="4114800"/>
          </a:xfrm>
        </p:spPr>
        <p:txBody>
          <a:bodyPr wrap="square" lIns="38100" tIns="38100" rIns="38100" bIns="38100"/>
          <a:lstStyle/>
          <a:p>
            <a:pPr algn="l"/>
            <a:r>
              <a:rPr lang="zh-CN" sz="1200" b="0" i="0" u="none">
                <a:solidFill>
                  <a:srgbClr val="000000"/>
                </a:solidFill>
                <a:latin typeface="Arial"/>
                <a:ea typeface="Arial"/>
              </a:rPr>
              <a:t xml:space="preserve">双击图表进入编辑，可修改标题、类型、系列和数值；下载的 PPTX 保留原生图表与 Excel 数据。</a:t>
            </a: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2.xml"/><Relationship Id="image6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3.xml"/><Relationship Id="link3" Type="http://schemas.openxmlformats.org/officeDocument/2006/relationships/hyperlink" Target="https://learn.microsoft.com/office/open-xml/presentation/overview" TargetMode="External"/></Relationships>
</file>

<file path=ppt/slides/_rels/slide4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4.xml"/><Relationship Id="chart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 rot="0">
            <a:off x="0" y="0"/>
            <a:ext cx="171450" cy="5143500"/>
          </a:xfrm>
          <a:prstGeom prst="rect">
            <a:avLst/>
          </a:prstGeom>
          <a:solidFill>
            <a:srgbClr val="246b50"/>
          </a:solidFill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2100" b="0" i="0" u="none">
                <a:solidFill>
                  <a:srgbClr val="203c35"/>
                </a:solidFill>
                <a:latin typeface="Arial"/>
                <a:ea typeface="Arial"/>
              </a:rPr>
              <a:t xml:space="preserve"/>
            </a:r>
            <a:endParaRPr lang="zh-CN"/>
          </a:p>
        </p:txBody>
      </p:sp>
      <p:sp>
        <p:nvSpPr>
          <p:cNvPr id="3" name="Object 3"/>
          <p:cNvSpPr txBox="1"/>
          <p:nvPr/>
        </p:nvSpPr>
        <p:spPr>
          <a:xfrm rot="0">
            <a:off x="571500" y="619125"/>
            <a:ext cx="7810500" cy="714375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3150" b="1" i="0" u="none">
                <a:solidFill>
                  <a:srgbClr val="203c35"/>
                </a:solidFill>
                <a:latin typeface="Arial"/>
                <a:ea typeface="Arial"/>
              </a:rPr>
              <a:t xml:space="preserve">让每一份演示，都更容易表达。</a:t>
            </a:r>
            <a:endParaRPr lang="zh-CN"/>
          </a:p>
        </p:txBody>
      </p:sp>
      <p:sp>
        <p:nvSpPr>
          <p:cNvPr id="4" name="Object 4"/>
          <p:cNvSpPr txBox="1"/>
          <p:nvPr/>
        </p:nvSpPr>
        <p:spPr>
          <a:xfrm rot="0">
            <a:off x="619125" y="1619250"/>
            <a:ext cx="7810500" cy="2190750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2025" b="0" i="0" u="none">
                <a:solidFill>
                  <a:srgbClr val="203c35"/>
                </a:solidFill>
                <a:latin typeface="Arial"/>
                <a:ea typeface="Arial"/>
              </a:rPr>
              <a:t xml:space="preserve">文档工坊 · 演示文稿</a:t>
            </a:r>
            <a:endParaRPr lang="zh-CN"/>
          </a:p>
          <a:p>
            <a:pPr algn="l"/>
            <a:r>
              <a:rPr lang="zh-CN" sz="2025" b="0" i="0" u="none">
                <a:solidFill>
                  <a:srgbClr val="203c35"/>
                </a:solidFill>
                <a:latin typeface="Arial"/>
                <a:ea typeface="Arial"/>
              </a:rPr>
              <a:t xml:space="preserve">PPT / PPTX 本地预览、编辑与转换</a:t>
            </a:r>
            <a:endParaRPr lang="zh-CN"/>
          </a:p>
          <a:p>
            <a:pPr algn="l"/>
            <a:r>
              <a:rPr lang="zh-CN" sz="2025" b="0" i="0" u="none">
                <a:solidFill>
                  <a:srgbClr val="203c35"/>
                </a:solidFill>
                <a:latin typeface="Arial"/>
                <a:ea typeface="Arial"/>
              </a:rPr>
              <a:t xml:space="preserve"/>
            </a:r>
            <a:endParaRPr lang="zh-CN"/>
          </a:p>
          <a:p>
            <a:pPr algn="l"/>
            <a:r>
              <a:rPr lang="zh-CN" sz="2025" b="0" i="0" u="none">
                <a:solidFill>
                  <a:srgbClr val="203c35"/>
                </a:solidFill>
                <a:latin typeface="Arial"/>
                <a:ea typeface="Arial"/>
              </a:rPr>
              <a:t xml:space="preserve">点击「编辑幻灯片」开始修改。</a:t>
            </a:r>
            <a:endParaRPr lang="zh-CN"/>
          </a:p>
        </p:txBody>
      </p:sp>
      <p:sp>
        <p:nvSpPr>
          <p:cNvPr id="5" name="Object 5"/>
          <p:cNvSpPr txBox="1"/>
          <p:nvPr/>
        </p:nvSpPr>
        <p:spPr>
          <a:xfrm rot="0">
            <a:off x="619125" y="4381500"/>
            <a:ext cx="57150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1275" b="0" i="0" u="none">
                <a:solidFill>
                  <a:srgbClr val="6e8b7d"/>
                </a:solidFill>
                <a:latin typeface="Arial"/>
                <a:ea typeface="Arial"/>
              </a:rPr>
              <a:t xml:space="preserve">DOCUMENT STUDIO  /  01</a:t>
            </a:r>
            <a:endParaRPr lang="zh-CN"/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650" fill="hold"/>
                                  <p:tgtEl>
                                    <p:spTgt spid="4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-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" presetID="1" presetClass="entr" presetSubtype="0" fill="hold" nodeType="afterEffect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12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0">
            <a:off x="571500" y="619125"/>
            <a:ext cx="7810500" cy="714375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3150" b="1" i="0" u="none">
                <a:solidFill>
                  <a:srgbClr val="203c35"/>
                </a:solidFill>
                <a:latin typeface="Arial"/>
                <a:ea typeface="Arial"/>
              </a:rPr>
              <a:t xml:space="preserve">进入、强调、退出，各有不同表现</a:t>
            </a:r>
            <a:endParaRPr lang="zh-CN"/>
          </a:p>
        </p:txBody>
      </p:sp>
      <p:sp>
        <p:nvSpPr>
          <p:cNvPr id="3" name="Object 3"/>
          <p:cNvSpPr/>
          <p:nvPr/>
        </p:nvSpPr>
        <p:spPr>
          <a:xfrm rot="0">
            <a:off x="571500" y="1857375"/>
            <a:ext cx="2476500" cy="1190625"/>
          </a:xfrm>
          <a:prstGeom prst="rect">
            <a:avLst/>
          </a:prstGeom>
          <a:solidFill>
            <a:srgbClr val="dcece3"/>
          </a:solidFill>
          <a:ln w="9525">
            <a:noFill/>
          </a:ln>
        </p:spPr>
        <p:txBody>
          <a:bodyPr wrap="square" lIns="38100" tIns="38100" rIns="38100" bIns="38100"/>
          <a:lstStyle/>
          <a:p>
            <a:pPr algn="ctr"/>
            <a:r>
              <a:rPr lang="zh-CN" sz="2100" b="1" i="0" u="none">
                <a:solidFill>
                  <a:srgbClr val="246b50"/>
                </a:solidFill>
                <a:latin typeface="Arial"/>
                <a:ea typeface="Arial"/>
              </a:rPr>
              <a:t xml:space="preserve">进入 · 缩放</a:t>
            </a:r>
            <a:endParaRPr lang="zh-CN"/>
          </a:p>
        </p:txBody>
      </p:sp>
      <p:sp>
        <p:nvSpPr>
          <p:cNvPr id="4" name="Object 4"/>
          <p:cNvSpPr/>
          <p:nvPr/>
        </p:nvSpPr>
        <p:spPr>
          <a:xfrm rot="0">
            <a:off x="3333750" y="1857375"/>
            <a:ext cx="2476500" cy="1190625"/>
          </a:xfrm>
          <a:prstGeom prst="rect">
            <a:avLst/>
          </a:prstGeom>
          <a:solidFill>
            <a:srgbClr val="e5edf8"/>
          </a:solidFill>
          <a:ln w="9525">
            <a:noFill/>
          </a:ln>
        </p:spPr>
        <p:txBody>
          <a:bodyPr wrap="square" lIns="38100" tIns="38100" rIns="38100" bIns="38100"/>
          <a:lstStyle/>
          <a:p>
            <a:pPr algn="ctr"/>
            <a:r>
              <a:rPr lang="zh-CN" sz="2100" b="1" i="0" u="none">
                <a:solidFill>
                  <a:srgbClr val="246b50"/>
                </a:solidFill>
                <a:latin typeface="Arial"/>
                <a:ea typeface="Arial"/>
              </a:rPr>
              <a:t xml:space="preserve">强调 · 脉冲</a:t>
            </a:r>
            <a:endParaRPr lang="zh-CN"/>
          </a:p>
        </p:txBody>
      </p:sp>
      <p:sp>
        <p:nvSpPr>
          <p:cNvPr id="5" name="Object 5"/>
          <p:cNvSpPr/>
          <p:nvPr/>
        </p:nvSpPr>
        <p:spPr>
          <a:xfrm rot="0">
            <a:off x="6096000" y="1857375"/>
            <a:ext cx="2476500" cy="1190625"/>
          </a:xfrm>
          <a:prstGeom prst="rect">
            <a:avLst/>
          </a:prstGeom>
          <a:solidFill>
            <a:srgbClr val="faecd9"/>
          </a:solidFill>
          <a:ln w="9525">
            <a:noFill/>
          </a:ln>
        </p:spPr>
        <p:txBody>
          <a:bodyPr wrap="square" lIns="38100" tIns="38100" rIns="38100" bIns="38100"/>
          <a:lstStyle/>
          <a:p>
            <a:pPr algn="ctr"/>
            <a:r>
              <a:rPr lang="zh-CN" sz="2100" b="1" i="0" u="none">
                <a:solidFill>
                  <a:srgbClr val="246b50"/>
                </a:solidFill>
                <a:latin typeface="Arial"/>
                <a:ea typeface="Arial"/>
              </a:rPr>
              <a:t xml:space="preserve">退出 · 淡出</a:t>
            </a:r>
            <a:endParaRPr lang="zh-CN"/>
          </a:p>
        </p:txBody>
      </p:sp>
      <p:sp>
        <p:nvSpPr>
          <p:cNvPr id="6" name="Object 6"/>
          <p:cNvSpPr/>
          <p:nvPr/>
        </p:nvSpPr>
        <p:spPr>
          <a:xfrm rot="0">
            <a:off x="619125" y="3429000"/>
            <a:ext cx="523875" cy="523875"/>
          </a:xfrm>
          <a:prstGeom prst="ellipse">
            <a:avLst/>
          </a:prstGeom>
          <a:solidFill>
            <a:srgbClr val="246b50"/>
          </a:solidFill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2100" b="0" i="0" u="none">
                <a:solidFill>
                  <a:srgbClr val="203c35"/>
                </a:solidFill>
                <a:latin typeface="Arial"/>
                <a:ea typeface="Arial"/>
              </a:rPr>
              <a:t xml:space="preserve"/>
            </a:r>
            <a:endParaRPr lang="zh-CN"/>
          </a:p>
        </p:txBody>
      </p:sp>
      <p:sp>
        <p:nvSpPr>
          <p:cNvPr id="7" name="Object 7"/>
          <p:cNvSpPr txBox="1"/>
          <p:nvPr/>
        </p:nvSpPr>
        <p:spPr>
          <a:xfrm rot="0">
            <a:off x="1333500" y="3476625"/>
            <a:ext cx="685800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1875" b="0" i="0" u="none">
                <a:solidFill>
                  <a:srgbClr val="203c35"/>
                </a:solidFill>
                <a:latin typeface="Arial"/>
                <a:ea typeface="Arial"/>
              </a:rPr>
              <a:t xml:space="preserve">点击依次播放缩放、脉冲、淡出，图片随后飞入。</a:t>
            </a:r>
            <a:endParaRPr lang="zh-CN"/>
          </a:p>
        </p:txBody>
      </p:sp>
      <p:pic>
        <p:nvPicPr>
          <p:cNvPr id="8" name="Object 8"/>
          <p:cNvPicPr/>
          <p:nvPr/>
        </p:nvPicPr>
        <p:blipFill>
          <a:blip r:embed="image6"/>
          <a:stretch>
            <a:fillRect/>
          </a:stretch>
        </p:blipFill>
        <p:spPr>
          <a:xfrm rot="0">
            <a:off x="5905500" y="4143375"/>
            <a:ext cx="2476500" cy="533400"/>
          </a:xfrm>
          <a:prstGeom prst="rect">
            <a:avLst/>
          </a:prstGeom>
        </p:spPr>
      </p:pic>
    </p:spTree>
  </p:cSld>
  <p:clrMapOvr>
    <a:masterClrMapping/>
  </p:clrMapOvr>
  <p:transition spd="med" advClick="1">
    <p:split dir="out"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>
                                  <p:cTn id="5" dur="500" fill="hold"/>
                                  <p:tgtEl>
                                    <p:spTgt spid="3"/>
                                  </p:tgtEl>
                                </p:cBhvr>
                                <p:from x="0" y="0"/>
                                <p:to x="100000" y="10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Class="emph" presetSubtype="0" fill="hold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9" dur="250" fill="hold" autoRev="1"/>
                                  <p:tgtEl>
                                    <p:spTgt spid="4"/>
                                  </p:tgtEl>
                                </p:cBhvr>
                                <p:from x="100000" y="100000"/>
                                <p:to x="115000" y="115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12" dur="5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2" presetClass="entr" presetSubtype="2" fill="hold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14" dur="500" fill="hold"/>
                                  <p:tgtEl>
                                    <p:spTgt spid="8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0">
            <a:off x="571500" y="619125"/>
            <a:ext cx="7810500" cy="714375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3150" b="1" i="0" u="none">
                <a:solidFill>
                  <a:srgbClr val="203c35"/>
                </a:solidFill>
                <a:latin typeface="Arial"/>
                <a:ea typeface="Arial"/>
              </a:rPr>
              <a:t xml:space="preserve">表格与页内动画，都可以编辑</a:t>
            </a:r>
            <a:endParaRPr lang="zh-CN"/>
          </a:p>
        </p:txBody>
      </p:sp>
      <p:sp>
        <p:nvSpPr>
          <p:cNvPr id="3" name="Object 3"/>
          <p:cNvSpPr txBox="1"/>
          <p:nvPr/>
        </p:nvSpPr>
        <p:spPr>
          <a:xfrm rot="0">
            <a:off x="619125" y="1571625"/>
            <a:ext cx="7905750" cy="571500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1800" b="0" i="0" u="none">
                <a:solidFill>
                  <a:srgbClr val="203c35"/>
                </a:solidFill>
                <a:latin typeface="Arial"/>
                <a:ea typeface="Arial"/>
              </a:rPr>
              <a:t xml:space="preserve">点击展示表格；进入编辑模式可修改单元格、增删行列。</a:t>
            </a:r>
            <a:endParaRPr lang="zh-CN"/>
          </a:p>
        </p:txBody>
      </p:sp>
      <p:graphicFrame>
        <p:nvGraphicFramePr>
          <p:cNvPr id="4" name="Object 4"/>
          <p:cNvGraphicFramePr/>
          <p:nvPr/>
        </p:nvGraphicFramePr>
        <p:xfrm rot="0">
          <a:off x="619125" y="2381250"/>
          <a:ext cx="7905750" cy="1619250"/>
        </p:xfrm>
        <a:graphic>
          <a:graphicData uri="http://schemas.openxmlformats.org/drawingml/2006/table">
            <a:tbl>
              <a:tblPr firstRow="1" bandRow="0"/>
              <a:tblGrid>
                <a:gridCol w="1976438"/>
                <a:gridCol w="2964656"/>
                <a:gridCol w="2964656"/>
              </a:tblGrid>
              <a:tr h="539750"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1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内容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e5f1ea"/>
                    </a:solidFill>
                  </a:tcPr>
                </a:tc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1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操作方式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e5f1ea"/>
                    </a:solidFill>
                  </a:tcPr>
                </a:tc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1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导出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e5f1ea"/>
                    </a:solidFill>
                  </a:tcPr>
                </a:tc>
              </a:tr>
              <a:tr h="539750"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0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表格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0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选中单元格后编辑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0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原生 PPTX 表格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0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页内动画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0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顺序、触发、时长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8100" tIns="38100" rIns="38100" bIns="38100"/>
                    <a:lstStyle/>
                    <a:p>
                      <a:pPr algn="l"/>
                      <a:r>
                        <a:rPr lang="zh-CN" sz="1575" b="0" i="0" u="none">
                          <a:solidFill>
                            <a:srgbClr val="203c35"/>
                          </a:solidFill>
                          <a:latin typeface="Arial"/>
                          <a:ea typeface="Arial"/>
                        </a:rPr>
                        <a:t xml:space="preserve">PPTX 进入 / 强调 / 退出</a:t>
                      </a:r>
                      <a:endParaRPr lang="zh-CN"/>
                    </a:p>
                  </a:txBody>
                  <a:tcPr marL="38100" marR="38100" marT="38100" marB="38100">
                    <a:lnL w="9525">
                      <a:solidFill>
                        <a:srgbClr val="bfcac5"/>
                      </a:solidFill>
                    </a:lnL>
                    <a:lnR w="9525">
                      <a:solidFill>
                        <a:srgbClr val="bfcac5"/>
                      </a:solidFill>
                    </a:lnR>
                    <a:lnT w="9525">
                      <a:solidFill>
                        <a:srgbClr val="bfcac5"/>
                      </a:solidFill>
                    </a:lnT>
                    <a:lnB w="9525">
                      <a:solidFill>
                        <a:srgbClr val="bfcac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>
            <a:hlinkClick r:id="link3"/>
          </p:cNvPr>
          <p:cNvSpPr txBox="1"/>
          <p:nvPr/>
        </p:nvSpPr>
        <p:spPr>
          <a:xfrm rot="0">
            <a:off x="619125" y="4333875"/>
            <a:ext cx="61912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1425" b="0" i="0" u="sng">
                <a:solidFill>
                  <a:srgbClr val="246b50"/>
                </a:solidFill>
                <a:latin typeface="Arial"/>
                <a:ea typeface="Arial"/>
              </a:rPr>
              <a:t xml:space="preserve">了解 Open XML ↗</a:t>
            </a:r>
            <a:endParaRPr lang="zh-CN"/>
          </a:p>
        </p:txBody>
      </p:sp>
    </p:spTree>
  </p:cSld>
  <p:clrMapOvr>
    <a:masterClrMapping/>
  </p:clrMapOvr>
  <p:transition spd="med" advClick="1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out)">
                                <p:cBhvr>
                                  <p:cTn id="5" dur="7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0">
            <a:off x="571500" y="619125"/>
            <a:ext cx="7810500" cy="714375"/>
          </a:xfrm>
          <a:prstGeom prst="rect">
            <a:avLst/>
          </a:prstGeom>
          <a:noFill/>
          <a:ln w="9525">
            <a:noFill/>
          </a:ln>
        </p:spPr>
        <p:txBody>
          <a:bodyPr wrap="square" lIns="38100" tIns="38100" rIns="38100" bIns="38100"/>
          <a:lstStyle/>
          <a:p>
            <a:pPr algn="l"/>
            <a:r>
              <a:rPr lang="zh-CN" sz="3150" b="1" i="0" u="none">
                <a:solidFill>
                  <a:srgbClr val="203c35"/>
                </a:solidFill>
                <a:latin typeface="Arial"/>
                <a:ea typeface="Arial"/>
              </a:rPr>
              <a:t xml:space="preserve">图表数据，可以直接编辑</a:t>
            </a:r>
            <a:endParaRPr lang="zh-CN"/>
          </a:p>
        </p:txBody>
      </p:sp>
      <p:graphicFrame>
        <p:nvGraphicFramePr>
          <p:cNvPr id="3" name="Object 3"/>
          <p:cNvGraphicFramePr/>
          <p:nvPr/>
        </p:nvGraphicFramePr>
        <p:xfrm rot="0">
          <a:off x="619125" y="1476375"/>
          <a:ext cx="7905750" cy="3143250"/>
        </p:xfrm>
        <a:graphic>
          <a:graphicData uri="http://schemas.openxmlformats.org/drawingml/2006/chart">
            <c:chart xmlns:c="http://schemas.openxmlformats.org/drawingml/2006/chart" r:id="chart1"/>
          </a:graphicData>
        </a:graphic>
      </p:graphicFrame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ocument Studio">
  <a:themeElements>
    <a:clrScheme name="Studio">
      <a:dk1>
        <a:srgbClr val="000000"/>
      </a:dk1>
      <a:lt1>
        <a:srgbClr val="FFFFFF"/>
      </a:lt1>
      <a:dk2>
        <a:srgbClr val="203C35"/>
      </a:dk2>
      <a:lt2>
        <a:srgbClr val="EDF4F0"/>
      </a:lt2>
      <a:accent1>
        <a:srgbClr val="246B50"/>
      </a:accent1>
      <a:accent2>
        <a:srgbClr val="E79B55"/>
      </a:accent2>
      <a:accent3>
        <a:srgbClr val="6298C9"/>
      </a:accent3>
      <a:accent4>
        <a:srgbClr val="B8A1D9"/>
      </a:accent4>
      <a:accent5>
        <a:srgbClr val="8ABAA0"/>
      </a:accent5>
      <a:accent6>
        <a:srgbClr val="D87676"/>
      </a:accent6>
      <a:hlink>
        <a:srgbClr val="0563C1"/>
      </a:hlink>
      <a:folHlink>
        <a:srgbClr val="954F72"/>
      </a:folHlink>
    </a:clrScheme>
    <a:fontScheme name="Studi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